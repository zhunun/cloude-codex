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可以这样说：这次希望补齐的是方法知识。我们想知道，新监测持续进入后，如何更新风险认识，并预测未来一段时间内的风险概率。当前先讨论原理，不预设具体井筒指标、等级或阈值。三篇文献是不同建模路线，不能直接将各自的公式拼成一套模型。正文可用约20分钟讨论；不熟悉的公式可转到附录解释。</a:t>
            </a:r>
          </a:p>
          <a:p/>
          <a:p>
            <a:r>
              <a:t>来源与边界：依据 P06（2022）、P14（2021）、P03（2026）；井筒迁移尚未进行数据验证。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状态识别、未来状态占据和未来窗口内事件是不同目标。这里的历史信息包括截至当前的监测；在相应模型中还包含状态记录或尚未失效的信息。70%的异常状态概率不等于未来24小时70%的失效概率。从状态到事件仍需一个演化模型。所有数字均为表达方式示意。风险在这里首先指事件发生可能性；若考虑后果，还需引入损失或严重度。</a:t>
            </a:r>
          </a:p>
          <a:p/>
          <a:p>
            <a:r>
              <a:t>来源与边界：概念区分；P14 式（3）；P03 §2.3.1。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老师一个路线图。第一步定义概率；第二步说明新数据怎样修正已有认识；第三步把当前认识推演到失效；第四步补充监测和事件联合建模的路线；第五步扩展到多等级；最后说明区间、实时性和工程决策边界。P06重点回答在线更新和剩余寿命，P14回答事件概率与可信区间，P03回答多状态占据概率。</a:t>
            </a:r>
          </a:p>
          <a:p/>
          <a:p>
            <a:r>
              <a:t>来源与边界：三篇文献提供互补思路；本页为讲解结构。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通用框架先建立直觉。状态转移模型描述内部状态怎样演化，观测模型描述不同状态下读数怎样出现。旧后验经转移模型形成新先验，再用新证据修正。P06的具体隐藏状态是漂移系数，观测量是退化增量；P14和P03则通过个体随机效应连接纵向与事件或状态过程，不能把三者的隐藏变量混为一谈。</a:t>
            </a:r>
          </a:p>
          <a:p/>
          <a:p>
            <a:r>
              <a:t>来源与边界：一般状态空间思想；用于理解 P06，非三篇统一采用的完整模型。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讨论退化过程。X是已经退化到什么程度，a影响接下来退化的速度或趋势，L是到首次达到失效阈值还剩多少时间。对非线性趋势，a不是直接等同于每单位时间的物理退化速度，而是漂移项的比例系数；这里用速度强弱帮助理解。论文直接以退化数据进入模型，布朗项是过程波动，不能自动当成独立传感器误差。</a:t>
            </a:r>
          </a:p>
          <a:p/>
          <a:p>
            <a:r>
              <a:t>来源与边界：P06 §2.1、§2.3；原文用 x 表示退化指标、a 表示漂移系数。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用广义Wiener过程同时刻画非线性均值趋势和波动。为便于讲解，把一个观测间隔的趋势增量写作H，把扩散方差写作R。注意退化增量对应a下标k-1，因此它先告诉我们上一时段的漂移，再通过随机游走推到ak。Q描述漂移变化的不确定性。此处固定其他参数讲滤波，下一页后会解释参数另由EM估计。</a:t>
            </a:r>
          </a:p>
          <a:p/>
          <a:p>
            <a:r>
              <a:t>来源与边界：P06 式（2）—（3）的等价简记；条件于当前模型参数。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预测偏差：实际退化增量减去原先预测增量。若H为正且实际增量更大，更新后漂移均值上升。K控制相信新证据的程度，由旧判断的不确定性和增量噪声共同决定。新观测先修正a(k-1)，再转移到ak；均值相同而方差需加Q。不能将这一式任意改成一般Kalman公式而忽略下标。新增信息收缩方差，漂移演化又引入新不确定性，所以区间不保证一直变窄。</a:t>
            </a:r>
          </a:p>
          <a:p/>
          <a:p>
            <a:r>
              <a:t>来源与边界：P06 式（4）；从正态先验与正态似然推导，详见附录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之前说在线更新不一定重新训练模型，这是一般情形；P06具体还使用EM更新其他参数。滤波回答当前个体漂移是多少，EM回答趋势形状、波动和漂移演化等规律如何调整。EM使用截至当前的历史数据并含平滑与迭代，不是仅处理最新一个数。论文支持在线自适应，不自动证明毫秒级响应。工程上能否分频执行是以后需要评估的设计问题，不是本文已验证结果。</a:t>
            </a:r>
          </a:p>
          <a:p/>
          <a:p>
            <a:r>
              <a:t>来源与边界：P06 §2.2，式（6）—（15）；滤波与参数估计不能混为一谈。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定当前系统尚未失效，定义未来首次到达阈值w所需时间L。随机未来轨迹有不同越界时刻，形成剩余寿命分布。给定漂移时可计算相应分布，再对当前漂移分布积分。原文广义非线性情形使用近似解析首达时间密度，不是所有过程的精确公式。得到寿命分布后，0到Delta的面积就是窗口内失效概率。不能用窗口终点超过阈值代替整个窗口首次越界，Wiener轨迹可能回落。</a:t>
            </a:r>
          </a:p>
          <a:p/>
          <a:p>
            <a:r>
              <a:t>来源与边界：P06 式（16）、（18）、（20）；窗口概率由寿命分布的定义直接得到。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是寿命密度，右图是其累积概率。虚线表示同一个20单位预测窗口。为了隔离漂移影响，本例保持到阈值的距离和波动固定，只比较两个给定漂移系数，不能当作一个真实个体前后两次监测的完整更新。蓝色漂移0.035，绿色0.055。其20单位窗口失效概率分别为38.7%与66.9%。这里是已知参数线性Wiener过程的精确首达分布，不是P06广义模型式20的复现。</a:t>
            </a:r>
          </a:p>
          <a:p/>
          <a:p>
            <a:r>
              <a:t>来源与边界：教学算例：线性 Wiener 首达分布；固定距离 d=1、扩散 σ=0.12，非论文结果或井筒实测。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是另一条路线。先从带误差的重复观测重建潜在指标轨迹m，再用m影响事件风险率。历史监测和事件或删失记录共同参与参数估计。alpha描述统计关联，一单位潜在指标差异对应风险率比exp(alpha)，不是因果效应。m是指标的统计轨迹，不能在缺乏依据时直接叫物理损伤。与P06相比，本路线不依赖同一种退化首次越界定义，而是借助事件记录建立联系。</a:t>
            </a:r>
          </a:p>
          <a:p/>
          <a:p>
            <a:r>
              <a:t>来源与边界：P14 Model definition，式（1）—（2）；联合估计见附录 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率是已存活到s条件下紧接着发生事件的强度，量纲为时间的倒数，并非概率。由S等于生存概率、f等于负的S导数，得到lambda等于负的logS导数。积分得到生存函数。已知存活到t，继续存活到u的条件概率为S(u)/S(t)，1减它就是窗口事件概率。真正预测还要对未知参数和个体效应进行平均，并说明未来轨迹或工况怎样得到。</a:t>
            </a:r>
          </a:p>
          <a:p/>
          <a:p>
            <a:r>
              <a:t>来源与边界：P14 式（3）—（5）的生存概率基础；以下条件于个体效应和模型参数。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采用训练样本的总体参数后验，再结合目标个体截至当前的监测及未发生事件信息，抽个体随机效应。每一对样本都产生一个条件事件概率。取均值获得预测，取2.5%和97.5%分位数获得该流程下的可信区间。这里的样本是概率数值，不是抽出来的0/1事件标签；不能对0/1样本取分位数冒充概率可信区间。此流程区别于对未来事件随机性本身的描述。</a:t>
            </a:r>
          </a:p>
          <a:p/>
          <a:p>
            <a:r>
              <a:t>来源与边界：P14 Dynamic predictions，第1734页；概率样本的 Monte Carlo 均值与分位数。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定义状态和允许转移。这里正常、退化、失效只是示意，论文研究的是医学状态。矩阵每一行表示从一个状态出发的下一步去向，各行之和为1。失效设为吸收态。当前并不确定处于正常还是退化，用概率向量表达。相乘后各状态概率是所有可能起点和路径的加权结果。实际P03的矩阵依赖纵向轨迹和个体效应，并对个体不确定性积分；不能把此固定矩阵示例当成全部方法。</a:t>
            </a:r>
          </a:p>
          <a:p/>
          <a:p>
            <a:r>
              <a:t>来源与边界：P03 §2.1.4、式（2）、§2.3.1；以下三状态矩阵为教学示例。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使用联合模型：纵向测量含误差，潜在轨迹进入多状态转移模型。各条边可有不同关联系数。群体参数通过EM估计；动态预测用截至预测时刻的监测和状态历史修正个体认识，再预测未来各状态占据概率。状态历史可能只知道转移发生在两次检查之间，也可能某次只能确定一个候选状态集合；模型对可能路径求和。论文采用离散时间近似，步长和转移概率合法性很重要。P03不等于每来一个新点就全模型重训。</a:t>
            </a:r>
          </a:p>
          <a:p/>
          <a:p>
            <a:r>
              <a:t>来源与边界：P03 §2.1.3—2.1.4、§2.2、§2.3.1。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输出剩余寿命分布，分位数区间针对时间。其EM使用其他参数的点估计，不能宣称完整传播所有参数不确定性。P14展示的是概率样本的可信区间。P03文中表4及讨论所述bootstrap区间针对回归系数；未来状态概率是预测输出，不能直接把系数区间说成个体概率区间。这张表用于避免老师问区间表示什么时答错。实际一次事件结果为0或1，不能检查它是否落在10%到35%的概率区间内。</a:t>
            </a:r>
          </a:p>
          <a:p/>
          <a:p>
            <a:r>
              <a:t>来源与边界：P06 §2.3；P14 Dynamic predictions；P03 表4与 Discussion。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展示的是发生可能性。工程风险还涉及后果；相同概率的事件损失可以不同。预警阈值需要结合严重度、误报和漏报代价、处置能力，不能从统计模型中自动获得。概率需要校准、Brier等评价，区分能力用AUC，预警还要看提前量和误报漏报；不同输出要选适当删失处理。在线推断的计算时延须与采样频率匹配，后续部署要实测。这些是设计边界，不是要求现在收集数据。</a:t>
            </a:r>
          </a:p>
          <a:p/>
          <a:p>
            <a:r>
              <a:t>来源与边界：方法归纳与工程迁移建议；不是三篇已完成的井筒验证结果。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可以直接说：这三篇给出一套共同思想，新观测先更新个体认识，再利用退化或事件模型推演未来。P06适合解释递推更新和首次越界，P14适合解释事件概率及其可信区间，P03适合解释等级演化。当前已厘清方法能力，不应据此宣称发现文献空白或已完成井筒模型。老师若关注在线算法，转附录A/B；关注联合估计转C；关注多状态预测转D。</a:t>
            </a:r>
          </a:p>
          <a:p/>
          <a:p>
            <a:r>
              <a:t>来源与边界：正文结束；附录 A—D 为推导，附录 E 为文献阅读导航。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设上一漂移分布为N(mu,P)，增量给定漂移为N(Ha,R)。把先验和似然相乘，指数为两个平方项之和。展开后，a平方项系数是1/P+H平方/R，a一次项系数是mu/P+H乘DeltaX/R。配方即得到更新均值和方差。注意此时更新的是a(k-1)，再按随机游走积分得到ak，方差加Q。与正文增益形式代数等价。</a:t>
            </a:r>
          </a:p>
          <a:p/>
          <a:p>
            <a:r>
              <a:t>来源与边界：P06 式（4）及附录；本页使用 H、R、P 的简化记号。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ta包括初始漂移分布、扩散强度、漂移演化方差及趋势时间变换参数。看不见的a历史被当作缺失量。E步在当前参数下计算隐含历史的条件期望，包括一阶、二阶和相邻时刻交叉矩；原文用平滑算法。M步最大化完整数据对数似然的条件期望。一些参数有解析更新，非线性形状参数需数值优化。每个时刻迭代至收敛。这样可适应单个系统的历史，但初始信息少时估计可靠性仍有限。</a:t>
            </a:r>
          </a:p>
          <a:p/>
          <a:p>
            <a:r>
              <a:t>来源与边界：P06 §2.2，式（6）—（15）；v 为 EM 迭代次数，k 为观测时刻。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令T波浪为事件时间与删失时间的较小值，delta表示观察到事件。发生事件贡献密度f=lambda乘S，未观察到事件贡献生存概率S，因此可统一写lambda的delta次方乘S。监测似然与事件似然共享个体效应b和参数theta，对b积分得到个体似然，再乘先验得到总体参数后验。这说明事件信息会影响对关联与个体轨迹的估计，不能把先拟合监测再直接塞入事件模型等同于完整联合估计。</a:t>
            </a:r>
          </a:p>
          <a:p/>
          <a:p>
            <a:r>
              <a:t>来源与边界：依据 P14 联合模型结构展开；适当删失与条件独立假设下，省略删失机制项。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一个固定个体效应b，纵向轨迹与各步转移矩阵被确定，当前状态也可以有一个条件分布。先沿时间顺序乘矩阵，再按b给定监测和状态历史的条件分布积分。该条件分布通过纵向历史和状态历史共同修正。P03总体参数用EM估计，因此这里的个体条件分布不代表全模型都采用贝叶斯参数后验。各步矩阵共享b，先分别平均矩阵再相乘一般不等于正确积分。若需要窗口首次进入某状态，需额外记录是否曾进入，或使用相应首达计算。</a:t>
            </a:r>
          </a:p>
          <a:p/>
          <a:p>
            <a:r>
              <a:t>来源与边界：P03 §2.3.1；本页是条件化后再积分的等价解释，省略总体参数估计记号。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先沿P06看图1整体流程，然后读第3页式2至4，弄清退化水平和漂移；再读第5页式16和第7页式18，理解首达时间和对漂移积分。第4至5页EM以及第13至15页附录留到追问时看。P03先看第3页图1，理解状态和转移，再读第6至7页转移模型与矩阵、第9页动态预测。最后看第19至20页讨论，核对假设、计算与区间边界。P14期刊第1733至1734页用于衔接轨迹、事件概率和可信区间。页码按论文自身标注。</a:t>
            </a:r>
          </a:p>
          <a:p/>
          <a:p>
            <a:r>
              <a:t>来源与边界：P06 DOI: 10.1016/j.ress.2021.108099；P03 DOI: 10.1093/biostatistics/kxag018；P14 DOI: 10.1093/ije/dyab047。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方法原理讨论 · 井筒风险识别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从动态监测到风险概率：方法如何连起来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依据 P06（2022）、P14（2021）、P03（2026）；井筒迁移尚未进行数据验证。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28800"/>
            <a:ext cx="4953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007F82"/>
                </a:solidFill>
                <a:latin typeface="Noto Sans CJK SC"/>
              </a:defRPr>
            </a:pPr>
            <a: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76500"/>
            <a:ext cx="6858000" cy="190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3179" b="0">
                <a:solidFill>
                  <a:srgbClr val="17324D"/>
                </a:solidFill>
                <a:latin typeface="Noto Sans CJK SC"/>
              </a:defRPr>
            </a:pPr>
            <a:r>
              <a:t>新观测到来后，</a:t>
            </a:r>
          </a:p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3179" b="0">
                <a:solidFill>
                  <a:srgbClr val="17324D"/>
                </a:solidFill>
                <a:latin typeface="Noto Sans CJK SC"/>
              </a:defRPr>
            </a:pPr>
            <a:r>
              <a:t>风险判断为什么会变？</a:t>
            </a:r>
          </a:p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3179" b="0">
                <a:solidFill>
                  <a:srgbClr val="17324D"/>
                </a:solidFill>
                <a:latin typeface="Noto Sans CJK SC"/>
              </a:defRPr>
            </a:pPr>
            <a:r>
              <a:t>未来概率又从哪里来？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1943100"/>
            <a:ext cx="35814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77200" y="1943100"/>
            <a:ext cx="45720" cy="2667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7699" y="2057400"/>
            <a:ext cx="3200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阅读提示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699" y="2743200"/>
            <a:ext cx="32004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正文先讲直觉与关键公式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每页附讲解备注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附录提供推导与阅读定位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先理解“更新—预测—概率输出”，再选择适合项目的模型。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01 / 提出问题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先分清：识别现在，还是预测未来？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概念区分；P14 式（3）；P03 §2.3.1。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905000"/>
            <a:ext cx="3505200" cy="289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905000"/>
            <a:ext cx="45720" cy="2895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0193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现在处于什么状态？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705100"/>
            <a:ext cx="3124200" cy="19811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“现在异常的概率为70%”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对象：当前状态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用途：诊断与识别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05000"/>
            <a:ext cx="3505200" cy="289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05000"/>
            <a:ext cx="45720" cy="28956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20193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未来处于什么等级？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2705100"/>
            <a:ext cx="3124200" cy="19811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“明天重度状态概率为30%”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对象：未来时点的状态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用途：等级预测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399" y="1905000"/>
            <a:ext cx="3505200" cy="289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399" y="1905000"/>
            <a:ext cx="45720" cy="2895600"/>
          </a:xfrm>
          <a:prstGeom prst="rect">
            <a:avLst/>
          </a:prstGeom>
          <a:solidFill>
            <a:srgbClr val="C5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0193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C58426"/>
                </a:solidFill>
                <a:latin typeface="Noto Sans CJK SC"/>
              </a:defRPr>
            </a:pPr>
            <a:r>
              <a:t>未来多久内会出事？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705100"/>
            <a:ext cx="3124200" cy="19811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“24小时内失效概率为20%”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对象：窗口内事件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用途：提前预警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每个概率都必须说明：对象、条件、时间点或预测窗口。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方法地图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六个问题，构成这次讨论的主线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三篇文献提供互补思路；本页为讲解结构。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866899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2019300"/>
            <a:ext cx="31623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01 提出问题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5908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究竟预测哪个概率？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66899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3900" y="2019300"/>
            <a:ext cx="31623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02 解释更新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25908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P06：新观测修正退化速度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399" y="1866899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2019300"/>
            <a:ext cx="31623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03 连接未来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25908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P06：寿命分布转窗口概率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3619500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" y="3771900"/>
            <a:ext cx="31623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04 另一条桥梁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43434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P14：监测轨迹连接事件风险率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619500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3900" y="3771900"/>
            <a:ext cx="31623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05 扩展到等级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3900" y="43434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P03：各状态概率随时间演化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3399" y="3619500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3900" y="3771900"/>
            <a:ext cx="31623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06 说明边界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43434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区间、实时性与决策依据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三篇是可比较的建模路线，不是必须依次串联的三个软件模块。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02 / 解释更新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动态更新需要两种知识：怎样变化，怎样被观测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一般状态空间思想；用于理解 P06，非三篇统一采用的完整模型。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943100"/>
            <a:ext cx="5334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943100"/>
            <a:ext cx="45720" cy="2286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057400"/>
            <a:ext cx="49530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演化规律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743200"/>
            <a:ext cx="49530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系统会怎样变化？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退化可能加速、随机波动，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某些状态也可能转移或恢复。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431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43100"/>
            <a:ext cx="45720" cy="22860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2700" y="2057400"/>
            <a:ext cx="5105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观测关系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2743200"/>
            <a:ext cx="51054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不同状态会产生怎样的读数？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同一个读数可能支持多种状态，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需要概率模型表达这种模糊性。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686300"/>
            <a:ext cx="100584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41"/>
              </a:lnSpc>
              <a:spcBef>
                <a:spcPts val="0"/>
              </a:spcBef>
              <a:spcAft>
                <a:spcPts val="0"/>
              </a:spcAft>
              <a:defRPr sz="2220" b="0">
                <a:solidFill>
                  <a:srgbClr val="17324D"/>
                </a:solidFill>
                <a:latin typeface="Noto Sans CJK SC"/>
              </a:defRPr>
            </a:pPr>
            <a:r>
              <a:t>旧认识  →  预测当前  →  加入新证据  →  更新后的认识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更新得到的是一个分布：既有估计，也保留不确定性。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02 / P06 的最小词汇表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读 P06，先认识三个不同对象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§2.1、§2.3；原文用 x 表示退化指标、a 表示漂移系数。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943100"/>
            <a:ext cx="35052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943100"/>
            <a:ext cx="45720" cy="2667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0574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X：退化水平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743200"/>
            <a:ext cx="31242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回答：已经退化到哪里？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与阈值的距离决定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还有多少“余量”。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43100"/>
            <a:ext cx="35052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43100"/>
            <a:ext cx="45720" cy="26670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20574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a：漂移系数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2743200"/>
            <a:ext cx="31242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回答：退化趋势有多强？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是隐含量，需要根据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累积观测持续估计。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399" y="1943100"/>
            <a:ext cx="35052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399" y="1943100"/>
            <a:ext cx="45720" cy="2667000"/>
          </a:xfrm>
          <a:prstGeom prst="rect">
            <a:avLst/>
          </a:prstGeom>
          <a:solidFill>
            <a:srgbClr val="C5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0574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C58426"/>
                </a:solidFill>
                <a:latin typeface="Noto Sans CJK SC"/>
              </a:defRPr>
            </a:pPr>
            <a:r>
              <a:t>L：剩余寿命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743200"/>
            <a:ext cx="31242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回答：何时首次越界？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是一整个时间分布，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不只是一个剩余小时数。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相同退化水平，若速度或波动不同，未来失效概率也会不同。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02 / 模型结构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P06：退化增量提供了关于速度的新证据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式（2）—（3）的等价简记；条件于当前模型参数。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8" name="Picture 7" descr="math_0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90700"/>
            <a:ext cx="10972800" cy="762000"/>
          </a:xfrm>
          <a:prstGeom prst="rect">
            <a:avLst/>
          </a:prstGeom>
        </p:spPr>
      </p:pic>
      <p:pic>
        <p:nvPicPr>
          <p:cNvPr id="9" name="Picture 8" descr="math_0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05100"/>
            <a:ext cx="10972800" cy="7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3400" y="3810000"/>
            <a:ext cx="5334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3810000"/>
            <a:ext cx="45720" cy="1447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3924300"/>
            <a:ext cx="49530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第一行：增量与漂移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404360"/>
            <a:ext cx="4953000" cy="739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观测到的变化 = 趋势变化 + 随机波动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10000"/>
            <a:ext cx="54864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810000"/>
            <a:ext cx="45720" cy="14478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2700" y="3924300"/>
            <a:ext cx="5105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第二行：漂移也会变化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4404360"/>
            <a:ext cx="5105400" cy="739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允许退化规律逐步变化，而不是始终固定。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H 表示趋势函数在该间隔的增量；R 表示退化增量的波动方差。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02 / P06 的核心直觉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一次更新：旧判断 + 对预测偏差的修正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式（4）；从正态先验与正态似然推导，详见附录 A。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8" name="Picture 7" descr="math_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6899"/>
            <a:ext cx="11049000" cy="838200"/>
          </a:xfrm>
          <a:prstGeom prst="rect">
            <a:avLst/>
          </a:prstGeom>
        </p:spPr>
      </p:pic>
      <p:pic>
        <p:nvPicPr>
          <p:cNvPr id="9" name="Picture 8" descr="math_0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33700"/>
            <a:ext cx="68580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3009900"/>
            <a:ext cx="350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K：修正幅度</a:t>
            </a:r>
          </a:p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P：漂移估计的方差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4190999"/>
            <a:ext cx="11125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4190999"/>
            <a:ext cx="45720" cy="1143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4305300"/>
            <a:ext cx="1074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怎样口头解释？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785360"/>
            <a:ext cx="10744200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“这次退化比原先预测快，因此上调速度判断；上调多少由证据可信程度决定。”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保留均值与方差，才能把当前认识的不确定性传到未来。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02 / 在线更新的层次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P06 同时做两类更新：个体漂移与模型参数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§2.2，式（6）—（15）；滤波与参数估计不能混为一谈。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905000"/>
            <a:ext cx="5334000" cy="289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905000"/>
            <a:ext cx="45720" cy="2895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019300"/>
            <a:ext cx="49530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递归贝叶斯滤波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705100"/>
            <a:ext cx="4953000" cy="19811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更新 a 的分布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“当前退化趋势有多强？”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输出：均值 μ 与方差 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5000"/>
            <a:ext cx="5486400" cy="289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5000"/>
            <a:ext cx="45720" cy="28956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2700" y="2019300"/>
            <a:ext cx="5105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EM 参数估计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2705100"/>
            <a:ext cx="5105400" cy="19811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更新模型参数 Θ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“趋势形状与波动规律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是否需要跟随新历史调整？”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“在线”描述使用新信息的方式；实际响应时延仍需测量。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03 / 从退化到事件概率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连接未来：首次越过阈值，定义剩余寿命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式（16）、（18）、（20）；窗口概率由寿命分布的定义直接得到。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8" name="Picture 7" descr="math_0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52600"/>
            <a:ext cx="10820400" cy="838200"/>
          </a:xfrm>
          <a:prstGeom prst="rect">
            <a:avLst/>
          </a:prstGeom>
        </p:spPr>
      </p:pic>
      <p:pic>
        <p:nvPicPr>
          <p:cNvPr id="9" name="Picture 8" descr="math_0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81300"/>
            <a:ext cx="11049000" cy="838200"/>
          </a:xfrm>
          <a:prstGeom prst="rect">
            <a:avLst/>
          </a:prstGeom>
        </p:spPr>
      </p:pic>
      <p:pic>
        <p:nvPicPr>
          <p:cNvPr id="10" name="Picture 9" descr="math_0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24300"/>
            <a:ext cx="10972800" cy="838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先得到“何时失效”的分布，再取指定窗口内的概率面积。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03 / 一个可视化示意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速度判断不同，未来窗口风险也会不同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教学算例：线性 Wiener 首达分布；固定距离 d=1、扩散 σ=0.12，非论文结果或井筒实测。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8" name="Picture 7" descr="r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866899"/>
            <a:ext cx="10896600" cy="35433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同一窗口 Δ=20：较慢漂移 38.7%  →  较快漂移 66.9%；阴影面积对应失效概率。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04 / 另一条桥梁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P14：用事件记录，学会“监测—失效”的联系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P14 Model definition，式（1）—（2）；联合估计见附录 C。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8" name="Picture 7" descr="math_0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10668000" cy="762000"/>
          </a:xfrm>
          <a:prstGeom prst="rect">
            <a:avLst/>
          </a:prstGeom>
        </p:spPr>
      </p:pic>
      <p:pic>
        <p:nvPicPr>
          <p:cNvPr id="9" name="Picture 8" descr="math_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95600"/>
            <a:ext cx="11049000" cy="838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3400" y="4114800"/>
            <a:ext cx="53340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4114800"/>
            <a:ext cx="45720" cy="12192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229100"/>
            <a:ext cx="49530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纵向部分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709160"/>
            <a:ext cx="4953000" cy="510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监测历史 → 潜在指标轨迹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14800"/>
            <a:ext cx="54864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114800"/>
            <a:ext cx="45720" cy="12192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2700" y="4229100"/>
            <a:ext cx="5105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事件部分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4709160"/>
            <a:ext cx="5105400" cy="510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潜在轨迹 → 瞬时事件风险率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P06 通过退化阈值定义失效；P14 通过监测与事件记录建立关联。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04 / 概率转换的推导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风险率怎样变成概率？关键是生存函数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P14 式（3）—（5）的生存概率基础；以下条件于个体效应和模型参数。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8" name="Picture 7" descr="math_0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52600"/>
            <a:ext cx="10896600" cy="838200"/>
          </a:xfrm>
          <a:prstGeom prst="rect">
            <a:avLst/>
          </a:prstGeom>
        </p:spPr>
      </p:pic>
      <p:pic>
        <p:nvPicPr>
          <p:cNvPr id="9" name="Picture 8" descr="math_0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57500"/>
            <a:ext cx="10896600" cy="914400"/>
          </a:xfrm>
          <a:prstGeom prst="rect">
            <a:avLst/>
          </a:prstGeom>
        </p:spPr>
      </p:pic>
      <p:pic>
        <p:nvPicPr>
          <p:cNvPr id="10" name="Picture 9" descr="math_0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38600"/>
            <a:ext cx="10896600" cy="914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累积未来窗口内的风险强度，才得到这个窗口内的事件概率。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04 / 概率的可信区间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P14：重复抽样，把参数不确定性传到概率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P14 Dynamic predictions，第1734页；概率样本的 Monte Carlo 均值与分位数。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981199"/>
            <a:ext cx="3505200" cy="19811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981199"/>
            <a:ext cx="45720" cy="1981199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095499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抽总体参数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781300"/>
            <a:ext cx="3124200" cy="1066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来自历史训练的后验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81199"/>
            <a:ext cx="3505200" cy="19811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81199"/>
            <a:ext cx="45720" cy="1981199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2095499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抽个体效应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2781300"/>
            <a:ext cx="3124200" cy="1066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结合该个体当前历史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399" y="1981199"/>
            <a:ext cx="3505200" cy="19811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399" y="1981199"/>
            <a:ext cx="45720" cy="1981199"/>
          </a:xfrm>
          <a:prstGeom prst="rect">
            <a:avLst/>
          </a:prstGeom>
          <a:solidFill>
            <a:srgbClr val="C5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095499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C58426"/>
                </a:solidFill>
                <a:latin typeface="Noto Sans CJK SC"/>
              </a:defRPr>
            </a:pPr>
            <a:r>
              <a:t>计算一次概率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781300"/>
            <a:ext cx="3124200" cy="1066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得到一个概率样本</a:t>
            </a:r>
          </a:p>
        </p:txBody>
      </p:sp>
      <p:pic>
        <p:nvPicPr>
          <p:cNvPr id="20" name="Picture 19" descr="math_0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67200"/>
            <a:ext cx="11049000" cy="914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“概率为20%”与“对这个20%有多大把握”是两个层次。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05 / 多状态等级演化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P03：把未来输出扩展成一个“等级概率向量”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P03 §2.1.4、式（2）、§2.3.1；以下三状态矩阵为教学示例。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13560"/>
            <a:ext cx="108204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41"/>
              </a:lnSpc>
              <a:spcBef>
                <a:spcPts val="0"/>
              </a:spcBef>
              <a:spcAft>
                <a:spcPts val="0"/>
              </a:spcAft>
              <a:defRPr sz="2220" b="0">
                <a:solidFill>
                  <a:srgbClr val="007F82"/>
                </a:solidFill>
                <a:latin typeface="Noto Sans CJK SC"/>
              </a:defRPr>
            </a:pPr>
            <a:r>
              <a:t>示意状态：正常  →  退化  →  失效（吸收态）</a:t>
            </a:r>
          </a:p>
        </p:txBody>
      </p:sp>
      <p:pic>
        <p:nvPicPr>
          <p:cNvPr id="9" name="Picture 8" descr="math_0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14600"/>
            <a:ext cx="106680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581400"/>
            <a:ext cx="1143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99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7324D"/>
                </a:solidFill>
                <a:latin typeface="Noto Sans CJK SC"/>
              </a:defRPr>
            </a:pPr>
            <a:r>
              <a:t>P 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67000" y="32766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0" y="3329940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0.9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9500" y="32766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000" y="3329940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2766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500" y="3329940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7000" y="38100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7500" y="3863339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9500" y="38100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10000" y="3863339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0.8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8100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2500" y="3863339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0.2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7000" y="43434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7500" y="4396740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9500" y="43434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000" y="4396740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343400"/>
            <a:ext cx="876300" cy="47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2500" y="4396740"/>
            <a:ext cx="685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4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7324D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3543300"/>
            <a:ext cx="47244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17324D"/>
                </a:solidFill>
                <a:latin typeface="Noto Sans CJK SC"/>
              </a:defRPr>
            </a:pPr>
            <a:r>
              <a:t>每一行概率和为 1</a:t>
            </a:r>
          </a:p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17324D"/>
                </a:solidFill>
                <a:latin typeface="Noto Sans CJK SC"/>
              </a:defRPr>
            </a:pPr>
            <a:r>
              <a:t>每一步汇总所有可能转移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一步后：π(t+1) = π(t) P = (0.765，0.205，0.030)。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05 / 从潜在轨迹到转移概率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P03 如何让等级概率随监测变化？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P03 §2.1.3—2.1.4、§2.2、§2.3.1。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8" name="Picture 7" descr="math_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90700"/>
            <a:ext cx="110490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3400" y="2971800"/>
            <a:ext cx="3505200" cy="20954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971800"/>
            <a:ext cx="45720" cy="2095499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30861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重建轨迹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771900"/>
            <a:ext cx="3124200" cy="1181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含误差的监测值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→ 潜在轨迹 m(t)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971800"/>
            <a:ext cx="3505200" cy="20954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971800"/>
            <a:ext cx="45720" cy="2095499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900" y="30861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改变转移概率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3771900"/>
            <a:ext cx="3124200" cy="1181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η 包含潜在监测轨迹；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每条转移边有自己的系数。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399" y="2971800"/>
            <a:ext cx="3505200" cy="20954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399" y="2971800"/>
            <a:ext cx="45720" cy="2095499"/>
          </a:xfrm>
          <a:prstGeom prst="rect">
            <a:avLst/>
          </a:prstGeom>
          <a:solidFill>
            <a:srgbClr val="C5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3900" y="30861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C58426"/>
                </a:solidFill>
                <a:latin typeface="Noto Sans CJK SC"/>
              </a:defRPr>
            </a:pPr>
            <a:r>
              <a:t>向未来推演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771900"/>
            <a:ext cx="3124200" cy="1181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沿允许路径推演，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输出未来各状态概率。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未来“处于重度”的概率，与窗口内“曾进入重度”的概率需要分别定义。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06 / 说明边界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三篇文献的区间，包住的不是同一种量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§2.3；P14 Dynamic predictions；P03 表4与 Discussion。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866899"/>
            <a:ext cx="11125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2057400"/>
            <a:ext cx="12192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05"/>
              </a:lnSpc>
              <a:spcBef>
                <a:spcPts val="0"/>
              </a:spcBef>
              <a:spcAft>
                <a:spcPts val="0"/>
              </a:spcAft>
              <a:defRPr sz="2340" b="0">
                <a:solidFill>
                  <a:srgbClr val="007F82"/>
                </a:solidFill>
                <a:latin typeface="Noto Sans CJK SC"/>
              </a:defRPr>
            </a:pPr>
            <a:r>
              <a:t>P06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81199"/>
            <a:ext cx="3657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17324D"/>
                </a:solidFill>
                <a:latin typeface="Noto Sans CJK SC"/>
              </a:defRPr>
            </a:pPr>
            <a:r>
              <a:t>剩余寿命分布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400" y="1981199"/>
            <a:ext cx="5486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7324D"/>
                </a:solidFill>
                <a:latin typeface="Noto Sans CJK SC"/>
              </a:defRPr>
            </a:pPr>
            <a:r>
              <a:t>“还要多久失效？”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2400300"/>
            <a:ext cx="5486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587084"/>
                </a:solidFill>
                <a:latin typeface="Noto Sans CJK SC"/>
              </a:defRPr>
            </a:pPr>
            <a:r>
              <a:t>时间单位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2971800"/>
            <a:ext cx="11125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3162300"/>
            <a:ext cx="12192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05"/>
              </a:lnSpc>
              <a:spcBef>
                <a:spcPts val="0"/>
              </a:spcBef>
              <a:spcAft>
                <a:spcPts val="0"/>
              </a:spcAft>
              <a:defRPr sz="2340" b="0">
                <a:solidFill>
                  <a:srgbClr val="007F82"/>
                </a:solidFill>
                <a:latin typeface="Noto Sans CJK SC"/>
              </a:defRPr>
            </a:pPr>
            <a:r>
              <a:t>P14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086100"/>
            <a:ext cx="3657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17324D"/>
                </a:solidFill>
                <a:latin typeface="Noto Sans CJK SC"/>
              </a:defRPr>
            </a:pPr>
            <a:r>
              <a:t>概率的可信区间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7400" y="3086100"/>
            <a:ext cx="5486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7324D"/>
                </a:solidFill>
                <a:latin typeface="Noto Sans CJK SC"/>
              </a:defRPr>
            </a:pPr>
            <a:r>
              <a:t>“这个概率有多不确定？”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7400" y="3505200"/>
            <a:ext cx="5486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587084"/>
                </a:solidFill>
                <a:latin typeface="Noto Sans CJK SC"/>
              </a:defRPr>
            </a:pPr>
            <a:r>
              <a:t>0—1 概率尺度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4076699"/>
            <a:ext cx="11125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4267200"/>
            <a:ext cx="12192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05"/>
              </a:lnSpc>
              <a:spcBef>
                <a:spcPts val="0"/>
              </a:spcBef>
              <a:spcAft>
                <a:spcPts val="0"/>
              </a:spcAft>
              <a:defRPr sz="2340" b="0">
                <a:solidFill>
                  <a:srgbClr val="007F82"/>
                </a:solidFill>
                <a:latin typeface="Noto Sans CJK SC"/>
              </a:defRPr>
            </a:pPr>
            <a:r>
              <a:t>P03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190999"/>
            <a:ext cx="3657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17324D"/>
                </a:solidFill>
                <a:latin typeface="Noto Sans CJK SC"/>
              </a:defRPr>
            </a:pPr>
            <a:r>
              <a:t>状态概率；系数区间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4190999"/>
            <a:ext cx="5486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48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7324D"/>
                </a:solidFill>
                <a:latin typeface="Noto Sans CJK SC"/>
              </a:defRPr>
            </a:pPr>
            <a:r>
              <a:t>“未来各状态多大概率？”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400" y="4610100"/>
            <a:ext cx="5486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587084"/>
                </a:solidFill>
                <a:latin typeface="Noto Sans CJK SC"/>
              </a:defRPr>
            </a:pPr>
            <a:r>
              <a:t>系数区间不能替代概率区间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每次展示区间，都明确它描述的是时间、参数，还是概率。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06 / 工程使用边界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从概率到预警，还需要决策规则与验证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方法归纳与工程迁移建议；不是三篇已完成的井筒验证结果。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905000"/>
            <a:ext cx="3505200" cy="327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905000"/>
            <a:ext cx="45720" cy="3276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0193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概率定义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705100"/>
            <a:ext cx="3124200" cy="2362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固定预测窗口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明确事件或等级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区分当前与未来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输入只用截至当前的信息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05000"/>
            <a:ext cx="3505200" cy="327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05000"/>
            <a:ext cx="45720" cy="32766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20193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预警决策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2705100"/>
            <a:ext cx="3124200" cy="2362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考虑事件后果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比较误报与漏报代价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确定处置阈值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概率不自动等于预警级别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399" y="1905000"/>
            <a:ext cx="3505200" cy="327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399" y="1905000"/>
            <a:ext cx="45720" cy="3276600"/>
          </a:xfrm>
          <a:prstGeom prst="rect">
            <a:avLst/>
          </a:prstGeom>
          <a:solidFill>
            <a:srgbClr val="C5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0193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C58426"/>
                </a:solidFill>
                <a:latin typeface="Noto Sans CJK SC"/>
              </a:defRPr>
            </a:pPr>
            <a:r>
              <a:t>有效性验证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705100"/>
            <a:ext cx="3124200" cy="2362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概率校准与 Brier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区分能力与提前量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区间对象与覆盖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实时性需要实测时延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先确认概率“算的是什么”，再评估是否准确、及时、值得据此行动。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正文回顾 / 六点闭环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向老师说明的核心：更新认识，再推演风险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正文结束；附录 A—D 为推导，附录 E 为文献阅读导航。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828800"/>
            <a:ext cx="1676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01 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1828800"/>
            <a:ext cx="8839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Noto Sans CJK SC"/>
              </a:defRPr>
            </a:pPr>
            <a:r>
              <a:t>明确当前状态／未来事件／未来等级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2407920"/>
            <a:ext cx="1676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02 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2407920"/>
            <a:ext cx="8839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Noto Sans CJK SC"/>
              </a:defRPr>
            </a:pPr>
            <a:r>
              <a:t>新观测修正个体状态或退化趋势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987040"/>
            <a:ext cx="1676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03 未来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0800" y="2987040"/>
            <a:ext cx="8839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Noto Sans CJK SC"/>
              </a:defRPr>
            </a:pPr>
            <a:r>
              <a:t>首次越界 → 剩余寿命 → 窗口概率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3566160"/>
            <a:ext cx="1676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04 桥梁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3566160"/>
            <a:ext cx="8839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Noto Sans CJK SC"/>
              </a:defRPr>
            </a:pPr>
            <a:r>
              <a:t>监测轨迹 → 事件风险率 → 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145280"/>
            <a:ext cx="1676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05 等级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0800" y="4145280"/>
            <a:ext cx="8839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Noto Sans CJK SC"/>
              </a:defRPr>
            </a:pPr>
            <a:r>
              <a:t>监测改变转移，推演各状态概率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4724400"/>
            <a:ext cx="1676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2"/>
                </a:solidFill>
                <a:latin typeface="Noto Sans CJK SC"/>
              </a:defRPr>
            </a:pPr>
            <a:r>
              <a:t>06 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0800" y="4724400"/>
            <a:ext cx="8839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Noto Sans CJK SC"/>
              </a:defRPr>
            </a:pPr>
            <a:r>
              <a:t>分清区间、在线计算和预警决策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当前任务是补齐方法知识；工程方案需在明确预测目标后再选择。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推导备用 / 条件于模型参数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附录 A｜P06 递归更新的配方推导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式（4）及附录；本页使用 H、R、P 的简化记号。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19</a:t>
            </a:r>
          </a:p>
        </p:txBody>
      </p:sp>
      <p:pic>
        <p:nvPicPr>
          <p:cNvPr id="8" name="Picture 7" descr="math_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52600"/>
            <a:ext cx="11049000" cy="990599"/>
          </a:xfrm>
          <a:prstGeom prst="rect">
            <a:avLst/>
          </a:prstGeom>
        </p:spPr>
      </p:pic>
      <p:pic>
        <p:nvPicPr>
          <p:cNvPr id="9" name="Picture 8" descr="math_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71800"/>
            <a:ext cx="11049000" cy="685800"/>
          </a:xfrm>
          <a:prstGeom prst="rect">
            <a:avLst/>
          </a:prstGeom>
        </p:spPr>
      </p:pic>
      <p:pic>
        <p:nvPicPr>
          <p:cNvPr id="10" name="Picture 9" descr="math_0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48099"/>
            <a:ext cx="11049000" cy="685800"/>
          </a:xfrm>
          <a:prstGeom prst="rect">
            <a:avLst/>
          </a:prstGeom>
        </p:spPr>
      </p:pic>
      <p:pic>
        <p:nvPicPr>
          <p:cNvPr id="11" name="Picture 10" descr="math_0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86300"/>
            <a:ext cx="11049000" cy="685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信息更新减少一部分不确定性；漂移自身演化又加入 Q。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推导备用 / 不是只更新一个新数据点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附录 B｜EM 怎样更新模型规律？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§2.2，式（6）—（15）；v 为 EM 迭代次数，k 为观测时刻。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90700"/>
            <a:ext cx="109728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E 步：根据已有观测，估计隐含漂移历史</a:t>
            </a:r>
          </a:p>
        </p:txBody>
      </p:sp>
      <p:pic>
        <p:nvPicPr>
          <p:cNvPr id="9" name="Picture 8" descr="math_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11049000" cy="9905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733799"/>
            <a:ext cx="109728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M 步：调整参数，让模型更好地解释这些信息</a:t>
            </a:r>
          </a:p>
        </p:txBody>
      </p:sp>
      <p:pic>
        <p:nvPicPr>
          <p:cNvPr id="11" name="Picture 10" descr="math_0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43400"/>
            <a:ext cx="11049000" cy="8763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滤波估计当前个体；EM 学习描述个体变化的参数。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推导备用 / P14 的联合似然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附录 C｜“监测和事件共同估计”是什么意思？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依据 P14 联合模型结构展开；适当删失与条件独立假设下，省略删失机制项。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21</a:t>
            </a:r>
          </a:p>
        </p:txBody>
      </p:sp>
      <p:pic>
        <p:nvPicPr>
          <p:cNvPr id="8" name="Picture 7" descr="math_0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11049000" cy="1066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3400" y="3238500"/>
            <a:ext cx="3505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3238500"/>
            <a:ext cx="45720" cy="182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33528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监测部分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038600"/>
            <a:ext cx="3124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哪些轨迹更能解释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实际重复观测？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38500"/>
            <a:ext cx="3505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3238500"/>
            <a:ext cx="45720" cy="18288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900" y="33528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事件／删失部分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4038600"/>
            <a:ext cx="3124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何时发生事件？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或者至少未失效到何时？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399" y="3238500"/>
            <a:ext cx="3505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399" y="3238500"/>
            <a:ext cx="45720" cy="1828800"/>
          </a:xfrm>
          <a:prstGeom prst="rect">
            <a:avLst/>
          </a:prstGeom>
          <a:solidFill>
            <a:srgbClr val="C5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3900" y="3352800"/>
            <a:ext cx="312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C58426"/>
                </a:solidFill>
                <a:latin typeface="Noto Sans CJK SC"/>
              </a:defRPr>
            </a:pPr>
            <a:r>
              <a:t>共享个体效应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4038600"/>
            <a:ext cx="3124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同一个 b 同时影响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监测与事件过程。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同一套参数，需要同时解释“怎样变化”和“何时发生事件”。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推导备用 / P03 的预测结构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附录 D｜多状态预测如何处理个体不确定性？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P03 §2.3.1；本页是条件化后再积分的等价解释，省略总体参数估计记号。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22</a:t>
            </a:r>
          </a:p>
        </p:txBody>
      </p:sp>
      <p:pic>
        <p:nvPicPr>
          <p:cNvPr id="8" name="Picture 7" descr="math_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11049000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467100"/>
            <a:ext cx="10744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先固定一种个体轨迹 → 推演各步状态 → 再对可能轨迹加权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4419600"/>
            <a:ext cx="11125200" cy="9905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4419600"/>
            <a:ext cx="45720" cy="990599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533900"/>
            <a:ext cx="107442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历史信息 H(t)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5013960"/>
            <a:ext cx="107442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包含截至当前的纵向监测与已观测状态信息。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未来状态占据概率 ≠ 窗口内曾进入该状态的概率（一般情形）。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9080"/>
            <a:ext cx="1104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8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007F82"/>
                </a:solidFill>
                <a:latin typeface="Noto Sans CJK SC"/>
              </a:defRPr>
            </a:pPr>
            <a:r>
              <a:t>阅读导航 / 不必从长公式开始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93420"/>
            <a:ext cx="111252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7"/>
              </a:lnSpc>
              <a:spcBef>
                <a:spcPts val="0"/>
              </a:spcBef>
              <a:spcAft>
                <a:spcPts val="0"/>
              </a:spcAft>
              <a:defRPr sz="2940" b="0">
                <a:solidFill>
                  <a:srgbClr val="17324D"/>
                </a:solidFill>
                <a:latin typeface="Noto Sans CJK SC"/>
              </a:defRPr>
            </a:pPr>
            <a:r>
              <a:t>附录 E｜你还没读文献，可以按问题定位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539240"/>
            <a:ext cx="11125200" cy="1524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301740"/>
            <a:ext cx="10287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87084"/>
                </a:solidFill>
                <a:latin typeface="Noto Sans CJK SC"/>
              </a:defRPr>
            </a:pPr>
            <a:r>
              <a:t>P06 DOI: 10.1016/j.ress.2021.108099；P03 DOI: 10.1093/biostatistics/kxag018；P14 DOI: 10.1093/ije/dyab047。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4120"/>
            <a:ext cx="609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007F82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866899"/>
            <a:ext cx="5334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866899"/>
            <a:ext cx="45720" cy="304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1981199"/>
            <a:ext cx="49530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007F82"/>
                </a:solidFill>
                <a:latin typeface="Noto Sans CJK SC"/>
              </a:defRPr>
            </a:pPr>
            <a:r>
              <a:t>P06：先回答“更新什么”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667000"/>
            <a:ext cx="4953000" cy="213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① 第5页图1：整体流程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② 第3页式（2）—（4）：漂移更新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③ 第5页式（16）：剩余寿命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④ 第7页式（18）：不确定性积分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⑤ 第4—5页：EM，第二轮再读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66899"/>
            <a:ext cx="54864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66899"/>
            <a:ext cx="45720" cy="3048000"/>
          </a:xfrm>
          <a:prstGeom prst="rect">
            <a:avLst/>
          </a:prstGeom>
          <a:solidFill>
            <a:srgbClr val="3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2700" y="1981199"/>
            <a:ext cx="5105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3266AA"/>
                </a:solidFill>
                <a:latin typeface="Noto Sans CJK SC"/>
              </a:defRPr>
            </a:pPr>
            <a:r>
              <a:t>P03：先回答“预测哪个状态”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2667000"/>
            <a:ext cx="5105400" cy="213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① 第3页图1：状态与允许转移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② 第6—7页：转移模型和矩阵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③ 第9页 §2.3.1：动态预测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④ 第19—20页：假设与局限</a:t>
            </a:r>
          </a:p>
          <a:p>
            <a:pPr>
              <a:lnSpc>
                <a:spcPts val="2383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7324D"/>
                </a:solidFill>
                <a:latin typeface="Noto Sans CJK SC"/>
              </a:defRPr>
            </a:pPr>
            <a:r>
              <a:t>⑤ 表4：区间针对回归系数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040" y="5707380"/>
            <a:ext cx="10744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FFFFFF"/>
                </a:solidFill>
                <a:latin typeface="Noto Sans CJK SC"/>
              </a:defRPr>
            </a:pPr>
            <a:r>
              <a:t>读完能说出：输入是什么、更新什么、输出哪个概率、依赖哪些假设。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从动态监测到风险概率：方法原理与关键推导</dc:title>
  <dc:subject>P06、P14、P03 方法讲解；正文18页，附录5页</dc:subject>
  <dc:creator>Research discussion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